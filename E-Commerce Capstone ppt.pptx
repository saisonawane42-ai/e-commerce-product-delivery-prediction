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8"/>
  </p:notesMasterIdLst>
  <p:sldIdLst>
    <p:sldId id="256" r:id="rId2"/>
    <p:sldId id="714" r:id="rId3"/>
    <p:sldId id="674" r:id="rId4"/>
    <p:sldId id="713" r:id="rId5"/>
    <p:sldId id="715" r:id="rId6"/>
    <p:sldId id="716" r:id="rId7"/>
    <p:sldId id="717" r:id="rId8"/>
    <p:sldId id="718" r:id="rId9"/>
    <p:sldId id="719" r:id="rId10"/>
    <p:sldId id="720" r:id="rId11"/>
    <p:sldId id="721" r:id="rId12"/>
    <p:sldId id="722" r:id="rId13"/>
    <p:sldId id="723" r:id="rId14"/>
    <p:sldId id="712" r:id="rId15"/>
    <p:sldId id="711" r:id="rId16"/>
    <p:sldId id="30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898" autoAdjust="0"/>
    <p:restoredTop sz="93447" autoAdjust="0"/>
  </p:normalViewPr>
  <p:slideViewPr>
    <p:cSldViewPr snapToGrid="0">
      <p:cViewPr varScale="1">
        <p:scale>
          <a:sx n="94" d="100"/>
          <a:sy n="94" d="100"/>
        </p:scale>
        <p:origin x="56" y="260"/>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28-09-2025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E-commerce Product delivery Prediction</a:t>
            </a:r>
          </a:p>
        </p:txBody>
      </p:sp>
      <p:sp>
        <p:nvSpPr>
          <p:cNvPr id="3" name="Rectangle 2">
            <a:extLst>
              <a:ext uri="{FF2B5EF4-FFF2-40B4-BE49-F238E27FC236}">
                <a16:creationId xmlns:a16="http://schemas.microsoft.com/office/drawing/2014/main" id="{E5F4C1C6-28A0-96D4-55BA-64F431FC7AB8}"/>
              </a:ext>
            </a:extLst>
          </p:cNvPr>
          <p:cNvSpPr/>
          <p:nvPr/>
        </p:nvSpPr>
        <p:spPr>
          <a:xfrm>
            <a:off x="64348" y="403797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Calibri" panose="020F0502020204030204" pitchFamily="34" charset="0"/>
              </a:rPr>
              <a:t>From :- Sai Deepak Sonawane.</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678881" y="603666"/>
            <a:ext cx="10834233" cy="612775"/>
          </a:xfrm>
        </p:spPr>
        <p:txBody>
          <a:bodyPr anchor="ctr">
            <a:normAutofit/>
          </a:bodyPr>
          <a:lstStyle/>
          <a:p>
            <a:r>
              <a:rPr lang="en-US" dirty="0"/>
              <a:t>Agenda</a:t>
            </a:r>
            <a:endParaRPr lang="en-IN" dirty="0"/>
          </a:p>
        </p:txBody>
      </p:sp>
      <p:pic>
        <p:nvPicPr>
          <p:cNvPr id="5" name="Picture 4" descr="A person holding a box and a phone&#10;&#10;AI-generated content may be incorrect.">
            <a:extLst>
              <a:ext uri="{FF2B5EF4-FFF2-40B4-BE49-F238E27FC236}">
                <a16:creationId xmlns:a16="http://schemas.microsoft.com/office/drawing/2014/main" id="{AD8327E3-7B46-AF76-2B5F-C83C92A1893C}"/>
              </a:ext>
            </a:extLst>
          </p:cNvPr>
          <p:cNvPicPr>
            <a:picLocks noChangeAspect="1"/>
          </p:cNvPicPr>
          <p:nvPr/>
        </p:nvPicPr>
        <p:blipFill>
          <a:blip r:embed="rId2">
            <a:extLst>
              <a:ext uri="{28A0092B-C50C-407E-A947-70E740481C1C}">
                <a14:useLocalDpi xmlns:a14="http://schemas.microsoft.com/office/drawing/2010/main" val="0"/>
              </a:ext>
            </a:extLst>
          </a:blip>
          <a:srcRect l="7279" r="11685" b="-2"/>
          <a:stretch>
            <a:fillRect/>
          </a:stretch>
        </p:blipFill>
        <p:spPr>
          <a:xfrm>
            <a:off x="678881" y="1659835"/>
            <a:ext cx="5340919" cy="4399442"/>
          </a:xfrm>
          <a:prstGeom prst="rect">
            <a:avLst/>
          </a:prstGeom>
          <a:noFill/>
        </p:spPr>
      </p:pic>
      <p:sp>
        <p:nvSpPr>
          <p:cNvPr id="3" name="Content Placeholder 2">
            <a:extLst>
              <a:ext uri="{FF2B5EF4-FFF2-40B4-BE49-F238E27FC236}">
                <a16:creationId xmlns:a16="http://schemas.microsoft.com/office/drawing/2014/main" id="{67B003C9-103A-47E6-D7EB-87D0A8CB5431}"/>
              </a:ext>
            </a:extLst>
          </p:cNvPr>
          <p:cNvSpPr>
            <a:spLocks noGrp="1"/>
          </p:cNvSpPr>
          <p:nvPr>
            <p:ph sz="half" idx="2"/>
          </p:nvPr>
        </p:nvSpPr>
        <p:spPr>
          <a:xfrm>
            <a:off x="6172199" y="1659835"/>
            <a:ext cx="5340917" cy="4399442"/>
          </a:xfrm>
        </p:spPr>
        <p:txBody>
          <a:bodyPr>
            <a:normAutofit/>
          </a:bodyPr>
          <a:lstStyle/>
          <a:p>
            <a:r>
              <a:rPr lang="en-US" dirty="0"/>
              <a:t>Project Objective </a:t>
            </a:r>
          </a:p>
          <a:p>
            <a:r>
              <a:rPr lang="en-US" dirty="0"/>
              <a:t>Dataset Overview</a:t>
            </a:r>
          </a:p>
          <a:p>
            <a:r>
              <a:rPr lang="en-US" dirty="0"/>
              <a:t>Data Preprocessing</a:t>
            </a:r>
          </a:p>
          <a:p>
            <a:r>
              <a:rPr lang="en-US" dirty="0"/>
              <a:t>Exploratory Data Analysis</a:t>
            </a:r>
          </a:p>
          <a:p>
            <a:r>
              <a:rPr lang="en-US" dirty="0"/>
              <a:t>Correlation Analysis</a:t>
            </a:r>
          </a:p>
          <a:p>
            <a:r>
              <a:rPr lang="en-US" dirty="0"/>
              <a:t>Model Evaluation</a:t>
            </a:r>
          </a:p>
          <a:p>
            <a:r>
              <a:rPr lang="en-US" dirty="0"/>
              <a:t>Conclusion</a:t>
            </a:r>
            <a:endParaRPr lang="en-IN" dirty="0"/>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                                       Project Overview</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3" y="1582400"/>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457200" lvl="1" indent="0">
              <a:buNone/>
            </a:pPr>
            <a:r>
              <a:rPr lang="en-US" dirty="0"/>
              <a:t>Objective:</a:t>
            </a:r>
          </a:p>
          <a:p>
            <a:pPr marL="457200" lvl="1" indent="0">
              <a:buNone/>
            </a:pPr>
            <a:endParaRPr lang="en-US" dirty="0"/>
          </a:p>
          <a:p>
            <a:pPr marL="457200" lvl="1" indent="0">
              <a:buNone/>
            </a:pPr>
            <a:r>
              <a:rPr lang="en-US" sz="2000" dirty="0"/>
              <a:t>This project aims to enhance the understanding of product delivery patterns and customer behavior for an international e-commerce company specializing in electronic products.</a:t>
            </a:r>
          </a:p>
          <a:p>
            <a:pPr marL="457200" lvl="1" indent="0">
              <a:buNone/>
            </a:pPr>
            <a:endParaRPr lang="en-US" sz="2000" dirty="0"/>
          </a:p>
          <a:p>
            <a:pPr marL="457200" lvl="1" indent="0">
              <a:buNone/>
            </a:pPr>
            <a:r>
              <a:rPr lang="en-US" sz="2000" dirty="0"/>
              <a:t>The project focuses on predicting whether products will reach customers on time using machine learning models.</a:t>
            </a:r>
          </a:p>
          <a:p>
            <a:pPr marL="457200" lvl="1" indent="0">
              <a:buNone/>
            </a:pPr>
            <a:endParaRPr lang="en-US" sz="2000" dirty="0"/>
          </a:p>
          <a:p>
            <a:pPr marL="457200" lvl="1" indent="0">
              <a:buNone/>
            </a:pPr>
            <a:r>
              <a:rPr lang="en-US" sz="2000" dirty="0"/>
              <a:t>Understand key factors influencing delivery times (e.g., product properties, customer behavior).</a:t>
            </a:r>
          </a:p>
          <a:p>
            <a:pPr lvl="1"/>
            <a:endParaRPr lang="en-US" dirty="0"/>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604740" y="121751"/>
            <a:ext cx="9688438" cy="612775"/>
          </a:xfrm>
        </p:spPr>
        <p:txBody>
          <a:bodyPr/>
          <a:lstStyle/>
          <a:p>
            <a:r>
              <a:rPr lang="en-US" dirty="0"/>
              <a:t>End to end Deployment Flow: </a:t>
            </a:r>
            <a:endParaRPr lang="en-IN" dirty="0"/>
          </a:p>
        </p:txBody>
      </p:sp>
      <p:sp>
        <p:nvSpPr>
          <p:cNvPr id="6" name="Cylinder 5">
            <a:extLst>
              <a:ext uri="{FF2B5EF4-FFF2-40B4-BE49-F238E27FC236}">
                <a16:creationId xmlns:a16="http://schemas.microsoft.com/office/drawing/2014/main" id="{19EFC88B-6B66-15E0-5F17-C25F883CAC17}"/>
              </a:ext>
            </a:extLst>
          </p:cNvPr>
          <p:cNvSpPr/>
          <p:nvPr/>
        </p:nvSpPr>
        <p:spPr>
          <a:xfrm>
            <a:off x="1501346" y="734526"/>
            <a:ext cx="976184" cy="122949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ptos Black" panose="020F0502020204030204" pitchFamily="34" charset="0"/>
              </a:rPr>
              <a:t>Data Set</a:t>
            </a:r>
            <a:endParaRPr lang="en-IN" sz="1200" dirty="0">
              <a:latin typeface="Aptos Black" panose="020F0502020204030204" pitchFamily="34" charset="0"/>
            </a:endParaRPr>
          </a:p>
        </p:txBody>
      </p:sp>
      <p:sp>
        <p:nvSpPr>
          <p:cNvPr id="8" name="Rectangle 7">
            <a:extLst>
              <a:ext uri="{FF2B5EF4-FFF2-40B4-BE49-F238E27FC236}">
                <a16:creationId xmlns:a16="http://schemas.microsoft.com/office/drawing/2014/main" id="{52B6E92D-ACF3-0A42-5C42-98E75400EA6D}"/>
              </a:ext>
            </a:extLst>
          </p:cNvPr>
          <p:cNvSpPr/>
          <p:nvPr/>
        </p:nvSpPr>
        <p:spPr>
          <a:xfrm>
            <a:off x="1315995" y="2689140"/>
            <a:ext cx="1353064" cy="134688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atin typeface="Aptos Black" panose="020B0004020202020204" pitchFamily="34" charset="0"/>
              </a:rPr>
              <a:t>Data collection</a:t>
            </a:r>
          </a:p>
          <a:p>
            <a:pPr algn="ctr"/>
            <a:r>
              <a:rPr lang="en-US" sz="1200" dirty="0">
                <a:latin typeface="Aptos Black" panose="020B0004020202020204" pitchFamily="34" charset="0"/>
              </a:rPr>
              <a:t>Exploration&amp;</a:t>
            </a:r>
          </a:p>
          <a:p>
            <a:pPr algn="ctr"/>
            <a:r>
              <a:rPr lang="en-US" sz="1200" dirty="0">
                <a:latin typeface="Aptos Black" panose="020B0004020202020204" pitchFamily="34" charset="0"/>
              </a:rPr>
              <a:t>Feature engineering</a:t>
            </a:r>
            <a:endParaRPr lang="en-IN" sz="1200" dirty="0">
              <a:latin typeface="Aptos Black" panose="020B0004020202020204" pitchFamily="34" charset="0"/>
            </a:endParaRPr>
          </a:p>
        </p:txBody>
      </p:sp>
      <p:sp>
        <p:nvSpPr>
          <p:cNvPr id="9" name="Flowchart: Decision 8">
            <a:extLst>
              <a:ext uri="{FF2B5EF4-FFF2-40B4-BE49-F238E27FC236}">
                <a16:creationId xmlns:a16="http://schemas.microsoft.com/office/drawing/2014/main" id="{05241641-3369-9E02-636E-9DC1A8729509}"/>
              </a:ext>
            </a:extLst>
          </p:cNvPr>
          <p:cNvSpPr/>
          <p:nvPr/>
        </p:nvSpPr>
        <p:spPr>
          <a:xfrm>
            <a:off x="3527853" y="2611910"/>
            <a:ext cx="1872049" cy="1424116"/>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ptos Black" panose="020B0004020202020204" pitchFamily="34" charset="0"/>
              </a:rPr>
              <a:t>Data Model Selection &amp; training</a:t>
            </a:r>
            <a:endParaRPr lang="en-IN" sz="1200" dirty="0">
              <a:latin typeface="Aptos Black" panose="020B0004020202020204" pitchFamily="34" charset="0"/>
            </a:endParaRPr>
          </a:p>
        </p:txBody>
      </p:sp>
      <p:sp>
        <p:nvSpPr>
          <p:cNvPr id="10" name="Rectangle 9">
            <a:extLst>
              <a:ext uri="{FF2B5EF4-FFF2-40B4-BE49-F238E27FC236}">
                <a16:creationId xmlns:a16="http://schemas.microsoft.com/office/drawing/2014/main" id="{C756B1CD-9A01-82A5-821C-ADA2C863344F}"/>
              </a:ext>
            </a:extLst>
          </p:cNvPr>
          <p:cNvSpPr/>
          <p:nvPr/>
        </p:nvSpPr>
        <p:spPr>
          <a:xfrm>
            <a:off x="6326659" y="2650525"/>
            <a:ext cx="1661984" cy="1346886"/>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latin typeface="Aptos Black" panose="020B0004020202020204" pitchFamily="34" charset="0"/>
              </a:rPr>
              <a:t>Evaluation of Model &amp;  Optimization</a:t>
            </a:r>
            <a:endParaRPr lang="en-IN" sz="1200" dirty="0">
              <a:latin typeface="Aptos Black" panose="020B0004020202020204" pitchFamily="34" charset="0"/>
            </a:endParaRPr>
          </a:p>
        </p:txBody>
      </p:sp>
      <p:sp>
        <p:nvSpPr>
          <p:cNvPr id="11" name="Rectangle 10">
            <a:extLst>
              <a:ext uri="{FF2B5EF4-FFF2-40B4-BE49-F238E27FC236}">
                <a16:creationId xmlns:a16="http://schemas.microsoft.com/office/drawing/2014/main" id="{BC34B906-5CE7-4A41-DE01-A2BDF6A0FD1B}"/>
              </a:ext>
            </a:extLst>
          </p:cNvPr>
          <p:cNvSpPr/>
          <p:nvPr/>
        </p:nvSpPr>
        <p:spPr>
          <a:xfrm>
            <a:off x="9038967" y="2650525"/>
            <a:ext cx="1594021" cy="134688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200" dirty="0">
                <a:latin typeface="Aptos Black" panose="020B0004020202020204" pitchFamily="34" charset="0"/>
              </a:rPr>
              <a:t>Model Deployment</a:t>
            </a:r>
            <a:endParaRPr lang="en-IN" sz="1200" dirty="0">
              <a:latin typeface="Aptos Black" panose="020B0004020202020204" pitchFamily="34" charset="0"/>
            </a:endParaRPr>
          </a:p>
        </p:txBody>
      </p:sp>
      <p:sp>
        <p:nvSpPr>
          <p:cNvPr id="12" name="Cylinder 11">
            <a:extLst>
              <a:ext uri="{FF2B5EF4-FFF2-40B4-BE49-F238E27FC236}">
                <a16:creationId xmlns:a16="http://schemas.microsoft.com/office/drawing/2014/main" id="{06B974A6-59CD-DDBB-E2C7-0A4A28F43332}"/>
              </a:ext>
            </a:extLst>
          </p:cNvPr>
          <p:cNvSpPr/>
          <p:nvPr/>
        </p:nvSpPr>
        <p:spPr>
          <a:xfrm>
            <a:off x="9276835" y="4801302"/>
            <a:ext cx="1118286" cy="1112108"/>
          </a:xfrm>
          <a:prstGeom prst="ca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200" dirty="0">
                <a:latin typeface="Aptos Black" panose="020B0004020202020204" pitchFamily="34" charset="0"/>
              </a:rPr>
              <a:t>User</a:t>
            </a:r>
            <a:endParaRPr lang="en-IN" sz="1200" dirty="0">
              <a:latin typeface="Aptos Black" panose="020B0004020202020204" pitchFamily="34" charset="0"/>
            </a:endParaRPr>
          </a:p>
        </p:txBody>
      </p:sp>
      <p:cxnSp>
        <p:nvCxnSpPr>
          <p:cNvPr id="14" name="Straight Arrow Connector 13">
            <a:extLst>
              <a:ext uri="{FF2B5EF4-FFF2-40B4-BE49-F238E27FC236}">
                <a16:creationId xmlns:a16="http://schemas.microsoft.com/office/drawing/2014/main" id="{B1A36AC5-9131-8A96-1157-7B2F1F53CEB7}"/>
              </a:ext>
            </a:extLst>
          </p:cNvPr>
          <p:cNvCxnSpPr>
            <a:stCxn id="6" idx="3"/>
            <a:endCxn id="8" idx="0"/>
          </p:cNvCxnSpPr>
          <p:nvPr/>
        </p:nvCxnSpPr>
        <p:spPr>
          <a:xfrm>
            <a:off x="1989438" y="1964023"/>
            <a:ext cx="3089" cy="7251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0AB9B1FA-81B1-FF00-8F09-03F1D84D9B82}"/>
              </a:ext>
            </a:extLst>
          </p:cNvPr>
          <p:cNvCxnSpPr>
            <a:cxnSpLocks/>
            <a:stCxn id="8" idx="3"/>
          </p:cNvCxnSpPr>
          <p:nvPr/>
        </p:nvCxnSpPr>
        <p:spPr>
          <a:xfrm flipV="1">
            <a:off x="2669059" y="3343275"/>
            <a:ext cx="858794" cy="193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994AF0F6-DB96-683E-9F67-908D4D4D31B6}"/>
              </a:ext>
            </a:extLst>
          </p:cNvPr>
          <p:cNvCxnSpPr>
            <a:stCxn id="9" idx="3"/>
            <a:endCxn id="10" idx="1"/>
          </p:cNvCxnSpPr>
          <p:nvPr/>
        </p:nvCxnSpPr>
        <p:spPr>
          <a:xfrm>
            <a:off x="5399902" y="3323968"/>
            <a:ext cx="926757"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2" name="Straight Arrow Connector 21">
            <a:extLst>
              <a:ext uri="{FF2B5EF4-FFF2-40B4-BE49-F238E27FC236}">
                <a16:creationId xmlns:a16="http://schemas.microsoft.com/office/drawing/2014/main" id="{CDE866D9-D8E3-974F-34C7-0C2EDC0F7413}"/>
              </a:ext>
            </a:extLst>
          </p:cNvPr>
          <p:cNvCxnSpPr>
            <a:stCxn id="10" idx="3"/>
            <a:endCxn id="11" idx="1"/>
          </p:cNvCxnSpPr>
          <p:nvPr/>
        </p:nvCxnSpPr>
        <p:spPr>
          <a:xfrm>
            <a:off x="7988643" y="3323968"/>
            <a:ext cx="1050324"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24" name="Straight Arrow Connector 23">
            <a:extLst>
              <a:ext uri="{FF2B5EF4-FFF2-40B4-BE49-F238E27FC236}">
                <a16:creationId xmlns:a16="http://schemas.microsoft.com/office/drawing/2014/main" id="{9E6C2EE5-32DF-9CF9-DA3C-11822E6CD354}"/>
              </a:ext>
            </a:extLst>
          </p:cNvPr>
          <p:cNvCxnSpPr>
            <a:stCxn id="11" idx="2"/>
            <a:endCxn id="12" idx="1"/>
          </p:cNvCxnSpPr>
          <p:nvPr/>
        </p:nvCxnSpPr>
        <p:spPr>
          <a:xfrm>
            <a:off x="9835978" y="3997411"/>
            <a:ext cx="0" cy="803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E040C-2524-8948-4107-16DE43A601DE}"/>
              </a:ext>
            </a:extLst>
          </p:cNvPr>
          <p:cNvSpPr>
            <a:spLocks noGrp="1"/>
          </p:cNvSpPr>
          <p:nvPr>
            <p:ph type="title"/>
          </p:nvPr>
        </p:nvSpPr>
        <p:spPr>
          <a:xfrm>
            <a:off x="586209" y="232963"/>
            <a:ext cx="10834234" cy="612775"/>
          </a:xfrm>
        </p:spPr>
        <p:txBody>
          <a:bodyPr>
            <a:normAutofit/>
          </a:bodyPr>
          <a:lstStyle/>
          <a:p>
            <a:r>
              <a:rPr lang="en-US" sz="2400" dirty="0"/>
              <a:t>Dataset Summary:-</a:t>
            </a:r>
            <a:endParaRPr lang="en-IN" sz="2400" dirty="0"/>
          </a:p>
        </p:txBody>
      </p:sp>
      <p:sp>
        <p:nvSpPr>
          <p:cNvPr id="3" name="Content Placeholder 2">
            <a:extLst>
              <a:ext uri="{FF2B5EF4-FFF2-40B4-BE49-F238E27FC236}">
                <a16:creationId xmlns:a16="http://schemas.microsoft.com/office/drawing/2014/main" id="{DD1A370C-FD95-86AD-F180-ABFC6E1DAD2D}"/>
              </a:ext>
            </a:extLst>
          </p:cNvPr>
          <p:cNvSpPr>
            <a:spLocks noGrp="1"/>
          </p:cNvSpPr>
          <p:nvPr>
            <p:ph idx="1"/>
          </p:nvPr>
        </p:nvSpPr>
        <p:spPr>
          <a:xfrm>
            <a:off x="450283" y="988294"/>
            <a:ext cx="10834234" cy="4980020"/>
          </a:xfrm>
        </p:spPr>
        <p:txBody>
          <a:bodyPr/>
          <a:lstStyle/>
          <a:p>
            <a:r>
              <a:rPr lang="en-US" b="1" dirty="0"/>
              <a:t>Dataset Summary:-</a:t>
            </a:r>
          </a:p>
          <a:p>
            <a:pPr marL="0" indent="0">
              <a:buNone/>
            </a:pPr>
            <a:r>
              <a:rPr lang="en-US" sz="2000" b="1" dirty="0"/>
              <a:t>                    </a:t>
            </a:r>
            <a:r>
              <a:rPr lang="en-US" sz="1800" dirty="0"/>
              <a:t>1.</a:t>
            </a:r>
            <a:r>
              <a:rPr lang="en-US" sz="1800" b="1" dirty="0"/>
              <a:t> </a:t>
            </a:r>
            <a:r>
              <a:rPr lang="en-US" sz="1800" dirty="0"/>
              <a:t>Total records:  10,999 rows.</a:t>
            </a:r>
          </a:p>
          <a:p>
            <a:pPr marL="0" indent="0">
              <a:buNone/>
            </a:pPr>
            <a:r>
              <a:rPr lang="en-US" sz="1800" dirty="0"/>
              <a:t>                    2. Features:  12 columns including:</a:t>
            </a:r>
          </a:p>
          <a:p>
            <a:r>
              <a:rPr lang="en-US" sz="1800" dirty="0" err="1"/>
              <a:t>Warehouse_block</a:t>
            </a:r>
            <a:r>
              <a:rPr lang="en-US" sz="1800" dirty="0"/>
              <a:t>, </a:t>
            </a:r>
            <a:r>
              <a:rPr lang="en-US" sz="1800" dirty="0" err="1"/>
              <a:t>Mode_of_Shipment</a:t>
            </a:r>
            <a:r>
              <a:rPr lang="en-US" sz="1800" dirty="0"/>
              <a:t>, Customer care calls, Cost of the Product, </a:t>
            </a:r>
            <a:r>
              <a:rPr lang="en-US" sz="1800" dirty="0" err="1"/>
              <a:t>Weight_in_gms</a:t>
            </a:r>
            <a:r>
              <a:rPr lang="en-US" sz="1800" dirty="0"/>
              <a:t>, and </a:t>
            </a:r>
            <a:r>
              <a:rPr lang="en-US" sz="1800" dirty="0" err="1"/>
              <a:t>Reached.on.Time_Y.N</a:t>
            </a:r>
            <a:endParaRPr lang="en-US" sz="1800" dirty="0"/>
          </a:p>
          <a:p>
            <a:pPr marL="0" indent="0">
              <a:buNone/>
            </a:pPr>
            <a:r>
              <a:rPr lang="en-IN" sz="1800" dirty="0"/>
              <a:t>=</a:t>
            </a:r>
            <a:r>
              <a:rPr lang="en-IN" sz="1800" b="1" dirty="0"/>
              <a:t>Target Variable</a:t>
            </a:r>
            <a:r>
              <a:rPr lang="en-IN" sz="1800" dirty="0"/>
              <a:t>:- </a:t>
            </a:r>
            <a:r>
              <a:rPr lang="en-US" sz="1800" dirty="0" err="1"/>
              <a:t>Reached.on.Time_Y.N</a:t>
            </a:r>
            <a:r>
              <a:rPr lang="en-US" sz="1800" dirty="0"/>
              <a:t> ( 1: On Time, 0:Delayed)</a:t>
            </a:r>
          </a:p>
          <a:p>
            <a:pPr marL="0" indent="0">
              <a:buNone/>
            </a:pPr>
            <a:endParaRPr lang="en-US" sz="1800" dirty="0"/>
          </a:p>
          <a:p>
            <a:r>
              <a:rPr lang="en-US" sz="1800" b="1" dirty="0"/>
              <a:t>Key Attributes:-</a:t>
            </a:r>
          </a:p>
          <a:p>
            <a:pPr marL="0" indent="0" algn="just">
              <a:buNone/>
            </a:pPr>
            <a:r>
              <a:rPr lang="en-US" sz="1800" dirty="0"/>
              <a:t>           1.Warehouse_block:- Source of Shipment(A to Z)</a:t>
            </a:r>
          </a:p>
          <a:p>
            <a:pPr marL="0" indent="0" algn="just">
              <a:buNone/>
            </a:pPr>
            <a:r>
              <a:rPr lang="en-US" sz="1800" dirty="0"/>
              <a:t>           2.Mode_of_Shipment:- Transport method ( Ship ,Flight ,road )</a:t>
            </a:r>
          </a:p>
          <a:p>
            <a:pPr marL="0" indent="0" algn="just">
              <a:buNone/>
            </a:pPr>
            <a:r>
              <a:rPr lang="en-US" sz="1800" b="1" dirty="0"/>
              <a:t>           </a:t>
            </a:r>
            <a:r>
              <a:rPr lang="en-US" sz="1800" dirty="0"/>
              <a:t>3.Discount_offered:- Promotional discounts.</a:t>
            </a:r>
          </a:p>
          <a:p>
            <a:pPr marL="0" indent="0" algn="just">
              <a:buNone/>
            </a:pPr>
            <a:r>
              <a:rPr lang="en-US" sz="1800" dirty="0"/>
              <a:t>           4.Product_importance: Importance level (Low , Medium, High )</a:t>
            </a:r>
          </a:p>
          <a:p>
            <a:pPr marL="0" indent="0">
              <a:buNone/>
            </a:pPr>
            <a:endParaRPr lang="en-IN" sz="2000" dirty="0"/>
          </a:p>
          <a:p>
            <a:pPr marL="0" indent="0">
              <a:buNone/>
            </a:pPr>
            <a:endParaRPr lang="en-IN" sz="2000" dirty="0"/>
          </a:p>
        </p:txBody>
      </p:sp>
    </p:spTree>
    <p:extLst>
      <p:ext uri="{BB962C8B-B14F-4D97-AF65-F5344CB8AC3E}">
        <p14:creationId xmlns:p14="http://schemas.microsoft.com/office/powerpoint/2010/main" val="344587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ED56E-5506-EFC9-A010-656D0EBF4249}"/>
              </a:ext>
            </a:extLst>
          </p:cNvPr>
          <p:cNvSpPr>
            <a:spLocks noGrp="1"/>
          </p:cNvSpPr>
          <p:nvPr>
            <p:ph type="title"/>
          </p:nvPr>
        </p:nvSpPr>
        <p:spPr/>
        <p:txBody>
          <a:bodyPr>
            <a:normAutofit/>
          </a:bodyPr>
          <a:lstStyle/>
          <a:p>
            <a:r>
              <a:rPr lang="en-US" sz="2800" dirty="0"/>
              <a:t>Data Preprocessing :-</a:t>
            </a:r>
            <a:endParaRPr lang="en-IN" sz="2800" dirty="0"/>
          </a:p>
        </p:txBody>
      </p:sp>
      <p:sp>
        <p:nvSpPr>
          <p:cNvPr id="3" name="Content Placeholder 2">
            <a:extLst>
              <a:ext uri="{FF2B5EF4-FFF2-40B4-BE49-F238E27FC236}">
                <a16:creationId xmlns:a16="http://schemas.microsoft.com/office/drawing/2014/main" id="{A9F7E877-C09B-9364-A7CF-56B125324913}"/>
              </a:ext>
            </a:extLst>
          </p:cNvPr>
          <p:cNvSpPr>
            <a:spLocks noGrp="1"/>
          </p:cNvSpPr>
          <p:nvPr>
            <p:ph idx="1"/>
          </p:nvPr>
        </p:nvSpPr>
        <p:spPr>
          <a:xfrm>
            <a:off x="892485" y="1432685"/>
            <a:ext cx="10620633" cy="4263780"/>
          </a:xfrm>
        </p:spPr>
        <p:txBody>
          <a:bodyPr/>
          <a:lstStyle/>
          <a:p>
            <a:pPr marL="0" indent="0">
              <a:buNone/>
            </a:pPr>
            <a:r>
              <a:rPr lang="en-US" sz="2000" b="1" dirty="0"/>
              <a:t>Steps followed :-</a:t>
            </a:r>
          </a:p>
          <a:p>
            <a:r>
              <a:rPr lang="en-US" sz="2000" dirty="0"/>
              <a:t>Checked for missing values: No missing data was found</a:t>
            </a:r>
          </a:p>
          <a:p>
            <a:endParaRPr lang="en-US" sz="2000" dirty="0"/>
          </a:p>
          <a:p>
            <a:r>
              <a:rPr lang="en-US" sz="2000" dirty="0"/>
              <a:t>Converted categorical variables to numerical using encoding (e.g., one-hot encoding for Gender, </a:t>
            </a:r>
            <a:r>
              <a:rPr lang="en-US" sz="2000" dirty="0" err="1"/>
              <a:t>Warehouse_block</a:t>
            </a:r>
            <a:r>
              <a:rPr lang="en-US" sz="2000" dirty="0"/>
              <a:t>)</a:t>
            </a:r>
          </a:p>
          <a:p>
            <a:endParaRPr lang="en-US" sz="2000" dirty="0"/>
          </a:p>
          <a:p>
            <a:r>
              <a:rPr lang="en-US" sz="2000" dirty="0"/>
              <a:t>Normalized numerical features (e.g., Cost of the Product, Weight in </a:t>
            </a:r>
            <a:r>
              <a:rPr lang="en-US" sz="2000" dirty="0" err="1"/>
              <a:t>gms</a:t>
            </a:r>
            <a:r>
              <a:rPr lang="en-US" sz="2000" dirty="0"/>
              <a:t>)</a:t>
            </a:r>
          </a:p>
          <a:p>
            <a:endParaRPr lang="en-US" sz="2000" dirty="0"/>
          </a:p>
          <a:p>
            <a:r>
              <a:rPr lang="en-US" sz="2000" dirty="0"/>
              <a:t>Split data into training (80%) and testing (20%) sets for model building</a:t>
            </a:r>
          </a:p>
        </p:txBody>
      </p:sp>
    </p:spTree>
    <p:extLst>
      <p:ext uri="{BB962C8B-B14F-4D97-AF65-F5344CB8AC3E}">
        <p14:creationId xmlns:p14="http://schemas.microsoft.com/office/powerpoint/2010/main" val="4210256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CF9E1-31AE-FBEC-4C5A-3000C7461699}"/>
              </a:ext>
            </a:extLst>
          </p:cNvPr>
          <p:cNvSpPr>
            <a:spLocks noGrp="1"/>
          </p:cNvSpPr>
          <p:nvPr>
            <p:ph type="title"/>
          </p:nvPr>
        </p:nvSpPr>
        <p:spPr>
          <a:xfrm>
            <a:off x="519953" y="478471"/>
            <a:ext cx="10834234" cy="612775"/>
          </a:xfrm>
        </p:spPr>
        <p:txBody>
          <a:bodyPr>
            <a:normAutofit/>
          </a:bodyPr>
          <a:lstStyle/>
          <a:p>
            <a:r>
              <a:rPr lang="en-US" sz="2800" dirty="0"/>
              <a:t>Exploratory Data Analysis :-</a:t>
            </a:r>
            <a:endParaRPr lang="en-IN" sz="2800" dirty="0"/>
          </a:p>
        </p:txBody>
      </p:sp>
      <p:sp>
        <p:nvSpPr>
          <p:cNvPr id="3" name="Content Placeholder 2">
            <a:extLst>
              <a:ext uri="{FF2B5EF4-FFF2-40B4-BE49-F238E27FC236}">
                <a16:creationId xmlns:a16="http://schemas.microsoft.com/office/drawing/2014/main" id="{6520F879-BA09-D277-18B1-20D444B800EF}"/>
              </a:ext>
            </a:extLst>
          </p:cNvPr>
          <p:cNvSpPr>
            <a:spLocks noGrp="1"/>
          </p:cNvSpPr>
          <p:nvPr>
            <p:ph idx="1"/>
          </p:nvPr>
        </p:nvSpPr>
        <p:spPr>
          <a:xfrm>
            <a:off x="672353" y="1216441"/>
            <a:ext cx="10993165" cy="4856700"/>
          </a:xfrm>
        </p:spPr>
        <p:txBody>
          <a:bodyPr>
            <a:normAutofit/>
          </a:bodyPr>
          <a:lstStyle/>
          <a:p>
            <a:pPr marL="457200" indent="-457200">
              <a:buAutoNum type="arabicPeriod"/>
            </a:pPr>
            <a:r>
              <a:rPr lang="en-US" sz="2000" b="1" dirty="0"/>
              <a:t>Gender Distribution :-</a:t>
            </a:r>
          </a:p>
          <a:p>
            <a:r>
              <a:rPr lang="en-IN" sz="2000" dirty="0"/>
              <a:t>Nearly equal representation of male and female customers(~50% each)</a:t>
            </a:r>
          </a:p>
          <a:p>
            <a:pPr marL="457200" indent="-457200">
              <a:buAutoNum type="arabicPeriod" startAt="2"/>
            </a:pPr>
            <a:r>
              <a:rPr lang="en-IN" sz="2000" b="1" dirty="0"/>
              <a:t>Product Insights : -</a:t>
            </a:r>
          </a:p>
          <a:p>
            <a:r>
              <a:rPr lang="en-US" sz="2000" dirty="0"/>
              <a:t>Heavier products (2500-3500 </a:t>
            </a:r>
            <a:r>
              <a:rPr lang="en-US" sz="2000" dirty="0" err="1"/>
              <a:t>granıs</a:t>
            </a:r>
            <a:r>
              <a:rPr lang="en-US" sz="2000" dirty="0"/>
              <a:t>) are more likely delivered on time</a:t>
            </a:r>
          </a:p>
          <a:p>
            <a:r>
              <a:rPr lang="en-US" sz="2000" dirty="0"/>
              <a:t>Products costing below $250 are more punctual compared to higher-cost items.</a:t>
            </a:r>
          </a:p>
          <a:p>
            <a:pPr marL="457200" indent="-457200">
              <a:buAutoNum type="arabicPeriod" startAt="3"/>
            </a:pPr>
            <a:r>
              <a:rPr lang="en-US" sz="2000" b="1" dirty="0"/>
              <a:t>Customer Behavior :-</a:t>
            </a:r>
          </a:p>
          <a:p>
            <a:r>
              <a:rPr lang="en-US" sz="2000" dirty="0"/>
              <a:t>High customer care calls often indicate delayed delivery</a:t>
            </a:r>
          </a:p>
          <a:p>
            <a:r>
              <a:rPr lang="en-US" sz="2000" dirty="0"/>
              <a:t>Repeat customers have better delivery outcomes</a:t>
            </a:r>
          </a:p>
          <a:p>
            <a:pPr marL="457200" indent="-457200">
              <a:buAutoNum type="arabicPeriod" startAt="4"/>
            </a:pPr>
            <a:r>
              <a:rPr lang="en-US" sz="2000" b="1" dirty="0"/>
              <a:t>Discount Impact :-</a:t>
            </a:r>
          </a:p>
          <a:p>
            <a:r>
              <a:rPr lang="en-US" sz="2000" dirty="0"/>
              <a:t>Minimal discounts (0-10%) lead to more late deliveries</a:t>
            </a:r>
          </a:p>
          <a:p>
            <a:r>
              <a:rPr lang="en-US" sz="2000" dirty="0"/>
              <a:t>Higher discounts (&gt;10%) correlate with timely deliveries</a:t>
            </a:r>
            <a:endParaRPr lang="en-IN" sz="2000" dirty="0"/>
          </a:p>
        </p:txBody>
      </p:sp>
    </p:spTree>
    <p:extLst>
      <p:ext uri="{BB962C8B-B14F-4D97-AF65-F5344CB8AC3E}">
        <p14:creationId xmlns:p14="http://schemas.microsoft.com/office/powerpoint/2010/main" val="2027173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455705BC-5920-646A-EFC9-082D790575FA}"/>
              </a:ext>
            </a:extLst>
          </p:cNvPr>
          <p:cNvSpPr>
            <a:spLocks noGrp="1"/>
          </p:cNvSpPr>
          <p:nvPr>
            <p:ph type="title"/>
          </p:nvPr>
        </p:nvSpPr>
        <p:spPr>
          <a:xfrm>
            <a:off x="678881" y="267482"/>
            <a:ext cx="10834233" cy="612775"/>
          </a:xfrm>
        </p:spPr>
        <p:txBody>
          <a:bodyPr>
            <a:normAutofit/>
          </a:bodyPr>
          <a:lstStyle/>
          <a:p>
            <a:r>
              <a:rPr lang="en-US" sz="2800" dirty="0"/>
              <a:t>Correlation Heatmap Observation :-</a:t>
            </a:r>
          </a:p>
        </p:txBody>
      </p:sp>
      <p:sp>
        <p:nvSpPr>
          <p:cNvPr id="1033" name="Content Placeholder 2">
            <a:extLst>
              <a:ext uri="{FF2B5EF4-FFF2-40B4-BE49-F238E27FC236}">
                <a16:creationId xmlns:a16="http://schemas.microsoft.com/office/drawing/2014/main" id="{E0637CDF-B8B5-7A7E-7C1E-5189D99C5703}"/>
              </a:ext>
            </a:extLst>
          </p:cNvPr>
          <p:cNvSpPr>
            <a:spLocks noGrp="1"/>
          </p:cNvSpPr>
          <p:nvPr>
            <p:ph sz="half" idx="1"/>
          </p:nvPr>
        </p:nvSpPr>
        <p:spPr>
          <a:xfrm>
            <a:off x="678881" y="1191718"/>
            <a:ext cx="5340919" cy="4867559"/>
          </a:xfrm>
        </p:spPr>
        <p:txBody>
          <a:bodyPr>
            <a:normAutofit/>
          </a:bodyPr>
          <a:lstStyle/>
          <a:p>
            <a:r>
              <a:rPr lang="en-US" sz="2000" b="1" dirty="0"/>
              <a:t>Positive Correlation :-</a:t>
            </a:r>
          </a:p>
          <a:p>
            <a:endParaRPr lang="en-US" sz="2000" dirty="0"/>
          </a:p>
          <a:p>
            <a:pPr marL="0" indent="0">
              <a:buNone/>
            </a:pPr>
            <a:r>
              <a:rPr lang="en-US" sz="2000" dirty="0"/>
              <a:t>   Product cost </a:t>
            </a:r>
            <a:r>
              <a:rPr lang="en-US" sz="2000" dirty="0">
                <a:sym typeface="Wingdings" panose="05000000000000000000" pitchFamily="2" charset="2"/>
              </a:rPr>
              <a:t> Customer care calls</a:t>
            </a:r>
          </a:p>
          <a:p>
            <a:pPr marL="0" indent="0">
              <a:buNone/>
            </a:pPr>
            <a:r>
              <a:rPr lang="en-US" sz="2000" dirty="0">
                <a:sym typeface="Wingdings" panose="05000000000000000000" pitchFamily="2" charset="2"/>
              </a:rPr>
              <a:t>                                   (indicating customer concerns</a:t>
            </a:r>
          </a:p>
          <a:p>
            <a:pPr marL="0" indent="0">
              <a:buNone/>
            </a:pPr>
            <a:r>
              <a:rPr lang="en-US" sz="2000" dirty="0">
                <a:sym typeface="Wingdings" panose="05000000000000000000" pitchFamily="2" charset="2"/>
              </a:rPr>
              <a:t>                                    for high-value items ).</a:t>
            </a:r>
          </a:p>
          <a:p>
            <a:pPr marL="0" indent="0">
              <a:buNone/>
            </a:pPr>
            <a:endParaRPr lang="en-US" sz="2000" dirty="0">
              <a:sym typeface="Wingdings" panose="05000000000000000000" pitchFamily="2" charset="2"/>
            </a:endParaRPr>
          </a:p>
          <a:p>
            <a:r>
              <a:rPr lang="en-US" sz="2000" b="1" dirty="0">
                <a:sym typeface="Wingdings" panose="05000000000000000000" pitchFamily="2" charset="2"/>
              </a:rPr>
              <a:t>Negative Correlation :- </a:t>
            </a:r>
          </a:p>
          <a:p>
            <a:endParaRPr lang="en-US" sz="2000" b="1" dirty="0">
              <a:sym typeface="Wingdings" panose="05000000000000000000" pitchFamily="2" charset="2"/>
            </a:endParaRPr>
          </a:p>
          <a:p>
            <a:pPr marL="0" indent="0">
              <a:buNone/>
            </a:pPr>
            <a:r>
              <a:rPr lang="en-US" sz="2000" dirty="0">
                <a:sym typeface="Wingdings" panose="05000000000000000000" pitchFamily="2" charset="2"/>
              </a:rPr>
              <a:t>    Discounts  Delivery delays</a:t>
            </a:r>
          </a:p>
          <a:p>
            <a:pPr marL="0" indent="0">
              <a:buNone/>
            </a:pPr>
            <a:r>
              <a:rPr lang="en-US" sz="2000" dirty="0">
                <a:sym typeface="Wingdings" panose="05000000000000000000" pitchFamily="2" charset="2"/>
              </a:rPr>
              <a:t>                                 (higher discount improves </a:t>
            </a:r>
          </a:p>
          <a:p>
            <a:pPr marL="0" indent="0">
              <a:buNone/>
            </a:pPr>
            <a:r>
              <a:rPr lang="en-US" sz="2000" dirty="0">
                <a:sym typeface="Wingdings" panose="05000000000000000000" pitchFamily="2" charset="2"/>
              </a:rPr>
              <a:t>                                     punctuality).</a:t>
            </a:r>
          </a:p>
        </p:txBody>
      </p:sp>
      <p:pic>
        <p:nvPicPr>
          <p:cNvPr id="1026" name="Picture 2">
            <a:extLst>
              <a:ext uri="{FF2B5EF4-FFF2-40B4-BE49-F238E27FC236}">
                <a16:creationId xmlns:a16="http://schemas.microsoft.com/office/drawing/2014/main" id="{8113B1CF-EAD7-9974-CC9F-0128177586D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6438276" y="1401580"/>
            <a:ext cx="5340918" cy="4657697"/>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580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B1841-985A-D85B-ACFB-1A718596585D}"/>
              </a:ext>
            </a:extLst>
          </p:cNvPr>
          <p:cNvSpPr>
            <a:spLocks noGrp="1"/>
          </p:cNvSpPr>
          <p:nvPr>
            <p:ph type="title"/>
          </p:nvPr>
        </p:nvSpPr>
        <p:spPr>
          <a:xfrm>
            <a:off x="720731" y="115574"/>
            <a:ext cx="10834233" cy="612775"/>
          </a:xfrm>
        </p:spPr>
        <p:txBody>
          <a:bodyPr>
            <a:normAutofit/>
          </a:bodyPr>
          <a:lstStyle/>
          <a:p>
            <a:r>
              <a:rPr lang="en-US" sz="2800" dirty="0"/>
              <a:t>                                        -:Machine Learning Models :-</a:t>
            </a:r>
            <a:endParaRPr lang="en-IN" sz="2800" dirty="0"/>
          </a:p>
        </p:txBody>
      </p:sp>
      <p:sp>
        <p:nvSpPr>
          <p:cNvPr id="3" name="Content Placeholder 2">
            <a:extLst>
              <a:ext uri="{FF2B5EF4-FFF2-40B4-BE49-F238E27FC236}">
                <a16:creationId xmlns:a16="http://schemas.microsoft.com/office/drawing/2014/main" id="{528F21DF-782F-0C70-794F-4EB2FC0DF4E9}"/>
              </a:ext>
            </a:extLst>
          </p:cNvPr>
          <p:cNvSpPr>
            <a:spLocks noGrp="1"/>
          </p:cNvSpPr>
          <p:nvPr>
            <p:ph sz="half" idx="1"/>
          </p:nvPr>
        </p:nvSpPr>
        <p:spPr>
          <a:xfrm>
            <a:off x="678881" y="969306"/>
            <a:ext cx="10917935" cy="5089971"/>
          </a:xfrm>
        </p:spPr>
        <p:txBody>
          <a:bodyPr>
            <a:normAutofit/>
          </a:bodyPr>
          <a:lstStyle/>
          <a:p>
            <a:r>
              <a:rPr lang="en-US" sz="1800" b="1" dirty="0"/>
              <a:t>Model Used :--</a:t>
            </a:r>
          </a:p>
          <a:p>
            <a:pPr marL="0" indent="0">
              <a:buNone/>
            </a:pPr>
            <a:r>
              <a:rPr lang="en-IN" sz="1800" b="1" dirty="0">
                <a:latin typeface="+mn-lt"/>
              </a:rPr>
              <a:t>Ⅰ. Decision Tree Classifier:</a:t>
            </a:r>
          </a:p>
          <a:p>
            <a:r>
              <a:rPr lang="en-IN" sz="1800" dirty="0">
                <a:latin typeface="+mn-lt"/>
              </a:rPr>
              <a:t>Selected optimal parameters via grid search</a:t>
            </a:r>
          </a:p>
          <a:p>
            <a:r>
              <a:rPr lang="en-IN" sz="1800" dirty="0">
                <a:latin typeface="+mn-lt"/>
              </a:rPr>
              <a:t>Best depth :8 , minimum sample split: 2.</a:t>
            </a:r>
          </a:p>
          <a:p>
            <a:pPr marL="0" indent="0">
              <a:buNone/>
            </a:pPr>
            <a:r>
              <a:rPr lang="en-IN" sz="1800" b="1" dirty="0">
                <a:latin typeface="+mn-lt"/>
              </a:rPr>
              <a:t>Ⅱ. Random Forest Classifier:</a:t>
            </a:r>
          </a:p>
          <a:p>
            <a:r>
              <a:rPr lang="en-IN" sz="1800" dirty="0">
                <a:latin typeface="+mn-lt"/>
              </a:rPr>
              <a:t>Explored ensemble learning for improved accuracy.</a:t>
            </a:r>
          </a:p>
          <a:p>
            <a:pPr marL="0" indent="0">
              <a:buNone/>
            </a:pPr>
            <a:r>
              <a:rPr lang="en-IN" sz="1800" b="1" dirty="0">
                <a:latin typeface="+mn-lt"/>
              </a:rPr>
              <a:t>Ⅲ. Logistic Regression:</a:t>
            </a:r>
          </a:p>
          <a:p>
            <a:r>
              <a:rPr lang="en-IN" sz="1800" dirty="0">
                <a:latin typeface="+mn-lt"/>
              </a:rPr>
              <a:t>Interpreted  linear relationships between features</a:t>
            </a:r>
          </a:p>
          <a:p>
            <a:pPr marL="0" indent="0">
              <a:buNone/>
            </a:pPr>
            <a:r>
              <a:rPr lang="en-IN" sz="1800" b="1" dirty="0">
                <a:latin typeface="+mn-lt"/>
              </a:rPr>
              <a:t>Ⅳ. K-Nearest </a:t>
            </a:r>
            <a:r>
              <a:rPr lang="en-IN" sz="1800" b="1" dirty="0" err="1">
                <a:latin typeface="+mn-lt"/>
              </a:rPr>
              <a:t>Neighbors</a:t>
            </a:r>
            <a:r>
              <a:rPr lang="en-IN" sz="1800" b="1" dirty="0">
                <a:latin typeface="+mn-lt"/>
              </a:rPr>
              <a:t> :</a:t>
            </a:r>
          </a:p>
          <a:p>
            <a:r>
              <a:rPr lang="en-IN" sz="1800" dirty="0">
                <a:latin typeface="+mn-lt"/>
              </a:rPr>
              <a:t>Examined proximity-based decision-making.</a:t>
            </a:r>
          </a:p>
          <a:p>
            <a:r>
              <a:rPr lang="en-IN" sz="1800" b="1" dirty="0">
                <a:latin typeface="+mn-lt"/>
              </a:rPr>
              <a:t>Train-Test Split:</a:t>
            </a:r>
          </a:p>
          <a:p>
            <a:pPr marL="0" indent="0">
              <a:buNone/>
            </a:pPr>
            <a:r>
              <a:rPr lang="en-IN" sz="1800" dirty="0">
                <a:latin typeface="+mn-lt"/>
              </a:rPr>
              <a:t>Training accuracy varied from 63% to 78%.</a:t>
            </a:r>
          </a:p>
          <a:p>
            <a:pPr marL="0" indent="0">
              <a:buNone/>
            </a:pPr>
            <a:r>
              <a:rPr lang="en-IN" sz="1800" dirty="0">
                <a:latin typeface="+mn-lt"/>
              </a:rPr>
              <a:t>Test accuracy ranged between 63% and 69%.</a:t>
            </a:r>
          </a:p>
          <a:p>
            <a:pPr marL="0" indent="0">
              <a:buNone/>
            </a:pPr>
            <a:endParaRPr lang="en-IN" sz="1800" dirty="0">
              <a:latin typeface="+mn-lt"/>
            </a:endParaRPr>
          </a:p>
        </p:txBody>
      </p:sp>
    </p:spTree>
    <p:extLst>
      <p:ext uri="{BB962C8B-B14F-4D97-AF65-F5344CB8AC3E}">
        <p14:creationId xmlns:p14="http://schemas.microsoft.com/office/powerpoint/2010/main" val="1946668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2BFEE-7F7E-9071-C0F4-F587510F5D56}"/>
              </a:ext>
            </a:extLst>
          </p:cNvPr>
          <p:cNvSpPr>
            <a:spLocks noGrp="1"/>
          </p:cNvSpPr>
          <p:nvPr>
            <p:ph type="title"/>
          </p:nvPr>
        </p:nvSpPr>
        <p:spPr>
          <a:xfrm>
            <a:off x="678880" y="383328"/>
            <a:ext cx="10834233" cy="612775"/>
          </a:xfrm>
        </p:spPr>
        <p:txBody>
          <a:bodyPr/>
          <a:lstStyle/>
          <a:p>
            <a:r>
              <a:rPr lang="en-US" dirty="0"/>
              <a:t>                                     -:Model Evaluation:-</a:t>
            </a:r>
            <a:endParaRPr lang="en-IN" dirty="0"/>
          </a:p>
        </p:txBody>
      </p:sp>
      <p:pic>
        <p:nvPicPr>
          <p:cNvPr id="2050" name="Picture 2">
            <a:extLst>
              <a:ext uri="{FF2B5EF4-FFF2-40B4-BE49-F238E27FC236}">
                <a16:creationId xmlns:a16="http://schemas.microsoft.com/office/drawing/2014/main" id="{DC03316D-79F0-D19F-D11A-3D5C4A7B676C}"/>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185656" y="1129604"/>
            <a:ext cx="10194767" cy="4995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7437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27627-65A5-2182-2BDE-658C6265DE3C}"/>
              </a:ext>
            </a:extLst>
          </p:cNvPr>
          <p:cNvSpPr>
            <a:spLocks noGrp="1"/>
          </p:cNvSpPr>
          <p:nvPr>
            <p:ph type="title"/>
          </p:nvPr>
        </p:nvSpPr>
        <p:spPr>
          <a:xfrm>
            <a:off x="678881" y="361295"/>
            <a:ext cx="10834233" cy="612775"/>
          </a:xfrm>
        </p:spPr>
        <p:txBody>
          <a:bodyPr/>
          <a:lstStyle/>
          <a:p>
            <a:r>
              <a:rPr lang="en-US" dirty="0"/>
              <a:t>                                   -:Model Performance:-</a:t>
            </a:r>
            <a:endParaRPr lang="en-IN" dirty="0"/>
          </a:p>
        </p:txBody>
      </p:sp>
      <p:sp>
        <p:nvSpPr>
          <p:cNvPr id="3" name="Content Placeholder 2">
            <a:extLst>
              <a:ext uri="{FF2B5EF4-FFF2-40B4-BE49-F238E27FC236}">
                <a16:creationId xmlns:a16="http://schemas.microsoft.com/office/drawing/2014/main" id="{96588CBD-6B74-36AF-8CC4-E9A44694996E}"/>
              </a:ext>
            </a:extLst>
          </p:cNvPr>
          <p:cNvSpPr>
            <a:spLocks noGrp="1"/>
          </p:cNvSpPr>
          <p:nvPr>
            <p:ph sz="half" idx="1"/>
          </p:nvPr>
        </p:nvSpPr>
        <p:spPr>
          <a:xfrm>
            <a:off x="678881" y="1233889"/>
            <a:ext cx="10834233" cy="4825388"/>
          </a:xfrm>
        </p:spPr>
        <p:txBody>
          <a:bodyPr>
            <a:normAutofit/>
          </a:bodyPr>
          <a:lstStyle/>
          <a:p>
            <a:r>
              <a:rPr lang="en-US" b="1" dirty="0"/>
              <a:t>Performance Summary:</a:t>
            </a:r>
          </a:p>
          <a:p>
            <a:pPr marL="0" indent="0">
              <a:buNone/>
            </a:pPr>
            <a:r>
              <a:rPr lang="en-US" sz="2400" b="1" dirty="0"/>
              <a:t>                1.Decision Tree Classifier: </a:t>
            </a:r>
            <a:r>
              <a:rPr lang="en-US" sz="2400" dirty="0"/>
              <a:t>Highest Test accuracy at 69%.</a:t>
            </a:r>
          </a:p>
          <a:p>
            <a:pPr marL="0" indent="0">
              <a:buNone/>
            </a:pPr>
            <a:r>
              <a:rPr lang="en-US" sz="2400" b="1" dirty="0"/>
              <a:t>                2.Random Forest: </a:t>
            </a:r>
            <a:r>
              <a:rPr lang="en-US" sz="2400" dirty="0"/>
              <a:t>Close second with 68% accuracy.</a:t>
            </a:r>
          </a:p>
          <a:p>
            <a:pPr marL="0" indent="0">
              <a:buNone/>
            </a:pPr>
            <a:r>
              <a:rPr lang="en-US" sz="2400" b="1" dirty="0"/>
              <a:t>                3.Logistic Regression: </a:t>
            </a:r>
            <a:r>
              <a:rPr lang="en-US" sz="2400" dirty="0"/>
              <a:t>Moderate performance at 63%</a:t>
            </a:r>
          </a:p>
          <a:p>
            <a:pPr marL="0" indent="0">
              <a:buNone/>
            </a:pPr>
            <a:r>
              <a:rPr lang="en-US" sz="2400" b="1" dirty="0"/>
              <a:t>                4.K-Nearest Neighbors: </a:t>
            </a:r>
            <a:r>
              <a:rPr lang="en-US" sz="2400" dirty="0"/>
              <a:t>Lowest test accuracy at 65%</a:t>
            </a:r>
          </a:p>
          <a:p>
            <a:pPr marL="0" indent="0">
              <a:buNone/>
            </a:pPr>
            <a:endParaRPr lang="en-US" sz="2400" dirty="0"/>
          </a:p>
          <a:p>
            <a:r>
              <a:rPr lang="en-US" b="1" dirty="0"/>
              <a:t>Metrics Used:</a:t>
            </a:r>
          </a:p>
          <a:p>
            <a:pPr marL="0" indent="0">
              <a:buNone/>
            </a:pPr>
            <a:r>
              <a:rPr lang="en-US" b="1" dirty="0"/>
              <a:t>             </a:t>
            </a:r>
            <a:r>
              <a:rPr lang="en-US" sz="2400" dirty="0"/>
              <a:t> </a:t>
            </a:r>
            <a:r>
              <a:rPr lang="en-US" sz="2400" b="1" dirty="0"/>
              <a:t>1. Precision</a:t>
            </a:r>
            <a:r>
              <a:rPr lang="en-US" sz="2400" dirty="0"/>
              <a:t>: Model’s ability to predict on-time deliveries correctly.</a:t>
            </a:r>
          </a:p>
          <a:p>
            <a:pPr marL="0" indent="0">
              <a:buNone/>
            </a:pPr>
            <a:r>
              <a:rPr lang="en-US" sz="2400" dirty="0"/>
              <a:t>                 </a:t>
            </a:r>
            <a:r>
              <a:rPr lang="en-US" sz="2400" b="1" dirty="0"/>
              <a:t>2. Recall</a:t>
            </a:r>
            <a:r>
              <a:rPr lang="en-US" sz="2400" dirty="0"/>
              <a:t>: Sensitivity to capture all true positives.</a:t>
            </a:r>
          </a:p>
          <a:p>
            <a:pPr marL="0" indent="0">
              <a:buNone/>
            </a:pPr>
            <a:r>
              <a:rPr lang="en-US" sz="2400" dirty="0"/>
              <a:t>                 </a:t>
            </a:r>
            <a:r>
              <a:rPr lang="en-US" sz="2400" b="1" dirty="0"/>
              <a:t>3.F1-Score</a:t>
            </a:r>
            <a:r>
              <a:rPr lang="en-US" sz="2400" dirty="0"/>
              <a:t>: Balance between precision and recall</a:t>
            </a:r>
            <a:endParaRPr lang="en-IN" sz="2400" dirty="0"/>
          </a:p>
        </p:txBody>
      </p:sp>
    </p:spTree>
    <p:extLst>
      <p:ext uri="{BB962C8B-B14F-4D97-AF65-F5344CB8AC3E}">
        <p14:creationId xmlns:p14="http://schemas.microsoft.com/office/powerpoint/2010/main" val="1246929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5583D-BD9D-AABB-9BBA-5ABC8DDF2730}"/>
              </a:ext>
            </a:extLst>
          </p:cNvPr>
          <p:cNvSpPr>
            <a:spLocks noGrp="1"/>
          </p:cNvSpPr>
          <p:nvPr>
            <p:ph type="title"/>
          </p:nvPr>
        </p:nvSpPr>
        <p:spPr>
          <a:xfrm>
            <a:off x="678881" y="492335"/>
            <a:ext cx="10834233" cy="612775"/>
          </a:xfrm>
        </p:spPr>
        <p:txBody>
          <a:bodyPr/>
          <a:lstStyle/>
          <a:p>
            <a:r>
              <a:rPr lang="en-US" dirty="0"/>
              <a:t>                                        -:Key Findings:-</a:t>
            </a:r>
            <a:endParaRPr lang="en-IN" dirty="0"/>
          </a:p>
        </p:txBody>
      </p:sp>
      <p:sp>
        <p:nvSpPr>
          <p:cNvPr id="3" name="Content Placeholder 2">
            <a:extLst>
              <a:ext uri="{FF2B5EF4-FFF2-40B4-BE49-F238E27FC236}">
                <a16:creationId xmlns:a16="http://schemas.microsoft.com/office/drawing/2014/main" id="{01DED3D6-4B25-29F2-B873-D1503FF9E91F}"/>
              </a:ext>
            </a:extLst>
          </p:cNvPr>
          <p:cNvSpPr>
            <a:spLocks noGrp="1"/>
          </p:cNvSpPr>
          <p:nvPr>
            <p:ph sz="half" idx="1"/>
          </p:nvPr>
        </p:nvSpPr>
        <p:spPr>
          <a:xfrm>
            <a:off x="143220" y="1105110"/>
            <a:ext cx="12048780" cy="5042302"/>
          </a:xfrm>
        </p:spPr>
        <p:txBody>
          <a:bodyPr>
            <a:normAutofit lnSpcReduction="10000"/>
          </a:bodyPr>
          <a:lstStyle/>
          <a:p>
            <a:r>
              <a:rPr lang="en-US" b="1" dirty="0"/>
              <a:t>Insights from EDA and Modeling :-</a:t>
            </a:r>
          </a:p>
          <a:p>
            <a:r>
              <a:rPr lang="en-US" b="1" dirty="0"/>
              <a:t>Product Factors :</a:t>
            </a:r>
          </a:p>
          <a:p>
            <a:pPr marL="0" indent="0">
              <a:buNone/>
            </a:pPr>
            <a:r>
              <a:rPr lang="en-US" sz="2400" dirty="0"/>
              <a:t>         1. Products between 2500-3500 grams delivered on time more often.</a:t>
            </a:r>
          </a:p>
          <a:p>
            <a:pPr marL="0" indent="0">
              <a:buNone/>
            </a:pPr>
            <a:r>
              <a:rPr lang="en-US" sz="2400" dirty="0"/>
              <a:t>         2. High-value products ($250+) experienced delays </a:t>
            </a:r>
          </a:p>
          <a:p>
            <a:r>
              <a:rPr lang="en-US" b="1" dirty="0"/>
              <a:t>Warehouse Logistics :</a:t>
            </a:r>
          </a:p>
          <a:p>
            <a:pPr marL="0" indent="0">
              <a:buNone/>
            </a:pPr>
            <a:r>
              <a:rPr lang="en-US" sz="2400" dirty="0"/>
              <a:t>         1. Warehouse F processed a majority of on-time deliveries, likely due to seaport proximity</a:t>
            </a:r>
          </a:p>
          <a:p>
            <a:r>
              <a:rPr lang="en-US" b="1" dirty="0"/>
              <a:t>Customer Behavior :</a:t>
            </a:r>
          </a:p>
          <a:p>
            <a:pPr marL="0" indent="0">
              <a:buNone/>
            </a:pPr>
            <a:r>
              <a:rPr lang="en-US" sz="2400" dirty="0"/>
              <a:t>       1. Frequent customer care calls indicate delivery issues</a:t>
            </a:r>
          </a:p>
          <a:p>
            <a:pPr marL="0" indent="0">
              <a:buNone/>
            </a:pPr>
            <a:r>
              <a:rPr lang="en-US" sz="2400" dirty="0"/>
              <a:t>       2. Repeat customer benefited from more reliable deliveries</a:t>
            </a:r>
          </a:p>
          <a:p>
            <a:r>
              <a:rPr lang="en-US" b="1" dirty="0"/>
              <a:t>Discounts : </a:t>
            </a:r>
          </a:p>
          <a:p>
            <a:pPr marL="0" indent="0">
              <a:buNone/>
            </a:pPr>
            <a:r>
              <a:rPr lang="en-US" b="1" dirty="0"/>
              <a:t>      </a:t>
            </a:r>
            <a:r>
              <a:rPr lang="en-US" dirty="0"/>
              <a:t>Offers &gt;10% improved delivery punctuality </a:t>
            </a:r>
          </a:p>
          <a:p>
            <a:pPr marL="0" indent="0">
              <a:buNone/>
            </a:pPr>
            <a:endParaRPr lang="en-IN" dirty="0"/>
          </a:p>
        </p:txBody>
      </p:sp>
    </p:spTree>
    <p:extLst>
      <p:ext uri="{BB962C8B-B14F-4D97-AF65-F5344CB8AC3E}">
        <p14:creationId xmlns:p14="http://schemas.microsoft.com/office/powerpoint/2010/main" val="4254929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E4AB6-01C9-28C0-395B-C869B96769ED}"/>
              </a:ext>
            </a:extLst>
          </p:cNvPr>
          <p:cNvSpPr>
            <a:spLocks noGrp="1"/>
          </p:cNvSpPr>
          <p:nvPr>
            <p:ph type="title"/>
          </p:nvPr>
        </p:nvSpPr>
        <p:spPr>
          <a:xfrm>
            <a:off x="678881" y="185948"/>
            <a:ext cx="10834233" cy="794553"/>
          </a:xfrm>
        </p:spPr>
        <p:txBody>
          <a:bodyPr>
            <a:normAutofit/>
          </a:bodyPr>
          <a:lstStyle/>
          <a:p>
            <a:r>
              <a:rPr lang="en-US" sz="2800" dirty="0"/>
              <a:t>                                                   -:Conclusion:-</a:t>
            </a:r>
            <a:endParaRPr lang="en-IN" sz="2800" dirty="0"/>
          </a:p>
        </p:txBody>
      </p:sp>
      <p:sp>
        <p:nvSpPr>
          <p:cNvPr id="3" name="Content Placeholder 2">
            <a:extLst>
              <a:ext uri="{FF2B5EF4-FFF2-40B4-BE49-F238E27FC236}">
                <a16:creationId xmlns:a16="http://schemas.microsoft.com/office/drawing/2014/main" id="{6D6E1563-ECFF-EBA6-74E2-3B91A10CF158}"/>
              </a:ext>
            </a:extLst>
          </p:cNvPr>
          <p:cNvSpPr>
            <a:spLocks noGrp="1"/>
          </p:cNvSpPr>
          <p:nvPr>
            <p:ph sz="half" idx="1"/>
          </p:nvPr>
        </p:nvSpPr>
        <p:spPr>
          <a:xfrm>
            <a:off x="678881" y="870333"/>
            <a:ext cx="11032049" cy="5188944"/>
          </a:xfrm>
        </p:spPr>
        <p:txBody>
          <a:bodyPr>
            <a:normAutofit/>
          </a:bodyPr>
          <a:lstStyle/>
          <a:p>
            <a:r>
              <a:rPr lang="en-US" sz="2000" dirty="0"/>
              <a:t>The project's objective was to forecast on-time delivery for an e-commerce company's products and to explore factors influencing delivery times and customer behavior. The exploratory analysis highlighted that product weight and cost are crucial to delivery success, with products in the 2500 – 3500  gram range and priced under $250 being more likely to arrive on time. A significant volume of products was dispatched from warehouse F using shipping, suggesting its proximity to a seaport</a:t>
            </a:r>
          </a:p>
          <a:p>
            <a:endParaRPr lang="en-US" sz="2000" dirty="0"/>
          </a:p>
          <a:p>
            <a:r>
              <a:rPr lang="en-US" sz="2000" dirty="0"/>
              <a:t>Customer behavior also sheds light on delivery outcomes. An increase in customer care calls often correlates with delivery delays. In contrast, customers with a history of multiple purchases tend to experience more punctual deliveries, which might explain their repeat business. As for discounts, products with minimal discounts (0-10%) saw more late deliveries, while those with discounts exceeding 10% were more often delivered on time</a:t>
            </a:r>
          </a:p>
          <a:p>
            <a:pPr marL="0" indent="0">
              <a:buNone/>
            </a:pPr>
            <a:endParaRPr lang="en-US" sz="2000" dirty="0"/>
          </a:p>
          <a:p>
            <a:r>
              <a:rPr lang="en-US" sz="2000" dirty="0"/>
              <a:t>Regarding machine learning models, the decision tree classifier outperformed others with a 69% accuracy rate. Close behind were the random forest classifier and logistic regression, with 68% and 63% accuracy, respectively. The K Nearest Neighbors model trailed with the least accuracy at 65%</a:t>
            </a:r>
            <a:endParaRPr lang="en-IN" sz="2000" dirty="0"/>
          </a:p>
        </p:txBody>
      </p:sp>
    </p:spTree>
    <p:extLst>
      <p:ext uri="{BB962C8B-B14F-4D97-AF65-F5344CB8AC3E}">
        <p14:creationId xmlns:p14="http://schemas.microsoft.com/office/powerpoint/2010/main" val="490846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a:xfrm>
            <a:off x="4640621" y="307104"/>
            <a:ext cx="7057847" cy="612775"/>
          </a:xfrm>
        </p:spPr>
        <p:txBody>
          <a:bodyPr>
            <a:normAutofit/>
          </a:bodyPr>
          <a:lstStyle/>
          <a:p>
            <a:r>
              <a:rPr lang="en-US" sz="2800" dirty="0"/>
              <a:t>Recommendations:-</a:t>
            </a:r>
            <a:endParaRPr lang="en-IN" sz="2800" dirty="0"/>
          </a:p>
        </p:txBody>
      </p:sp>
      <p:pic>
        <p:nvPicPr>
          <p:cNvPr id="6" name="Content Placeholder 5">
            <a:extLst>
              <a:ext uri="{FF2B5EF4-FFF2-40B4-BE49-F238E27FC236}">
                <a16:creationId xmlns:a16="http://schemas.microsoft.com/office/drawing/2014/main" id="{36313A01-93D0-9639-AA67-0392F2D636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7518" y="1230312"/>
            <a:ext cx="4640622" cy="4397375"/>
          </a:xfrm>
        </p:spPr>
      </p:pic>
      <p:sp>
        <p:nvSpPr>
          <p:cNvPr id="11" name="Content Placeholder 2">
            <a:extLst>
              <a:ext uri="{FF2B5EF4-FFF2-40B4-BE49-F238E27FC236}">
                <a16:creationId xmlns:a16="http://schemas.microsoft.com/office/drawing/2014/main" id="{D5B6D081-C749-5C73-032A-1AD5E3DE6B8E}"/>
              </a:ext>
            </a:extLst>
          </p:cNvPr>
          <p:cNvSpPr txBox="1">
            <a:spLocks/>
          </p:cNvSpPr>
          <p:nvPr/>
        </p:nvSpPr>
        <p:spPr>
          <a:xfrm>
            <a:off x="5375188" y="1655105"/>
            <a:ext cx="6752968" cy="48074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Optimize shipping routes for heavy products.</a:t>
            </a:r>
          </a:p>
          <a:p>
            <a:endParaRPr lang="en-US" sz="2000" dirty="0"/>
          </a:p>
          <a:p>
            <a:r>
              <a:rPr lang="en-US" sz="2000" dirty="0"/>
              <a:t>Enhance operations at high-performing warehouses (</a:t>
            </a:r>
            <a:r>
              <a:rPr lang="en-US" sz="2000" dirty="0" err="1"/>
              <a:t>c.g.</a:t>
            </a:r>
            <a:r>
              <a:rPr lang="en-US" sz="2000" dirty="0"/>
              <a:t>, F).</a:t>
            </a:r>
          </a:p>
          <a:p>
            <a:endParaRPr lang="en-US" sz="2000" dirty="0"/>
          </a:p>
          <a:p>
            <a:r>
              <a:rPr lang="en-US" sz="2000" dirty="0"/>
              <a:t>Investigate and address customer care interactions to mitigate delays.</a:t>
            </a:r>
            <a:endParaRPr lang="en-IN" sz="2000" dirty="0"/>
          </a:p>
        </p:txBody>
      </p:sp>
    </p:spTree>
    <p:extLst>
      <p:ext uri="{BB962C8B-B14F-4D97-AF65-F5344CB8AC3E}">
        <p14:creationId xmlns:p14="http://schemas.microsoft.com/office/powerpoint/2010/main" val="1594365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7250</TotalTime>
  <Words>979</Words>
  <Application>Microsoft Office PowerPoint</Application>
  <PresentationFormat>Widescreen</PresentationFormat>
  <Paragraphs>124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 Black</vt:lpstr>
      <vt:lpstr>Arial</vt:lpstr>
      <vt:lpstr>Calibri</vt:lpstr>
      <vt:lpstr>Wingdings</vt:lpstr>
      <vt:lpstr>BIA Template</vt:lpstr>
      <vt:lpstr>PowerPoint Presentation</vt:lpstr>
      <vt:lpstr>Agenda</vt:lpstr>
      <vt:lpstr>                                       Project Overview</vt:lpstr>
      <vt:lpstr>End to end Deployment Flow: </vt:lpstr>
      <vt:lpstr>Dataset Summary:-</vt:lpstr>
      <vt:lpstr>Data Preprocessing :-</vt:lpstr>
      <vt:lpstr>Exploratory Data Analysis :-</vt:lpstr>
      <vt:lpstr>Correlation Heatmap Observation :-</vt:lpstr>
      <vt:lpstr>                                        -:Machine Learning Models :-</vt:lpstr>
      <vt:lpstr>                                     -:Model Evaluation:-</vt:lpstr>
      <vt:lpstr>                                   -:Model Performance:-</vt:lpstr>
      <vt:lpstr>                                        -:Key Findings:-</vt:lpstr>
      <vt:lpstr>                                                   -:Conclusion:-</vt:lpstr>
      <vt:lpstr>Recommendations:-</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Sai Sonawane</cp:lastModifiedBy>
  <cp:revision>2255</cp:revision>
  <dcterms:created xsi:type="dcterms:W3CDTF">2020-12-23T13:36:00Z</dcterms:created>
  <dcterms:modified xsi:type="dcterms:W3CDTF">2025-09-28T19:54:28Z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